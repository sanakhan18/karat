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232B37"/>
                </a:solidFill>
                <a:latin typeface="Aptos"/>
              </a:defRPr>
            </a:pPr>
            <a:r>
              <a:t>Project Orbit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3262A"/>
                </a:solidFill>
                <a:latin typeface="Aptos"/>
              </a:defRPr>
            </a:pPr>
            <a:r>
              <a:t>Product Catalogue – Backend to Frontend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5943600" cy="502920"/>
          </a:xfrm>
          <a:prstGeom prst="roundRect">
            <a:avLst/>
          </a:prstGeom>
          <a:solidFill>
            <a:srgbClr val="F6F8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>
                <a:solidFill>
                  <a:srgbClr val="232B37"/>
                </a:solidFill>
                <a:latin typeface="Aptos"/>
              </a:defRPr>
            </a:pPr>
            <a:r>
              <a:t>Spring Boot  |  React  |  REST API  |  API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62A"/>
                </a:solidFill>
                <a:latin typeface="Aptos"/>
              </a:defRPr>
            </a:pPr>
            <a:r>
              <a:t>• Product catalogue exposes product information through REST APIs.</a:t>
            </a:r>
          </a:p>
          <a:p>
            <a:pPr>
              <a:spcAft>
                <a:spcPts val="1000"/>
              </a:spcAft>
              <a:defRPr sz="1700">
                <a:solidFill>
                  <a:srgbClr val="23262A"/>
                </a:solidFill>
                <a:latin typeface="Aptos"/>
              </a:defRPr>
            </a:pPr>
            <a:r>
              <a:t>• The API Gateway provides the entry point for frontend requests.</a:t>
            </a:r>
          </a:p>
          <a:p>
            <a:pPr>
              <a:spcAft>
                <a:spcPts val="1000"/>
              </a:spcAft>
              <a:defRPr sz="1700">
                <a:solidFill>
                  <a:srgbClr val="23262A"/>
                </a:solidFill>
                <a:latin typeface="Aptos"/>
              </a:defRPr>
            </a:pPr>
            <a:r>
              <a:t>• React consumes the API response and displays products in the catalogue.</a:t>
            </a:r>
          </a:p>
          <a:p>
            <a:pPr>
              <a:spcAft>
                <a:spcPts val="1000"/>
              </a:spcAft>
              <a:defRPr sz="1700">
                <a:solidFill>
                  <a:srgbClr val="23262A"/>
                </a:solidFill>
                <a:latin typeface="Aptos"/>
              </a:defRPr>
            </a:pPr>
            <a:r>
              <a:t>• This demo follows one complete product-read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514600"/>
            <a:ext cx="2514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B37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520440"/>
            <a:ext cx="2514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B37"/>
                </a:solidFill>
                <a:latin typeface="Aptos"/>
              </a:defRPr>
            </a:pPr>
            <a:r>
              <a:t>API Gateway :8080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4526280"/>
            <a:ext cx="2514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B37"/>
                </a:solidFill>
                <a:latin typeface="Aptos"/>
              </a:defRPr>
            </a:pPr>
            <a:r>
              <a:t>Backend :8081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5532120"/>
            <a:ext cx="2514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B37"/>
                </a:solidFill>
                <a:latin typeface="Aptos"/>
              </a:defRPr>
            </a:pPr>
            <a:r>
              <a:t>H2 Database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8048" y="3054096"/>
            <a:ext cx="0" cy="45720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28048" y="4059936"/>
            <a:ext cx="0" cy="45720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28048" y="5065776"/>
            <a:ext cx="0" cy="457200"/>
          </a:xfrm>
          <a:prstGeom prst="line">
            <a:avLst/>
          </a:prstGeom>
          <a:ln w="25400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7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079"/>
                </a:solidFill>
                <a:latin typeface="Aptos"/>
              </a:defRPr>
            </a:pPr>
            <a:r>
              <a:t>Project Orbit • Product Catalogue Demo    |   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B37"/>
                </a:solidFill>
                <a:latin typeface="Aptos Display"/>
              </a:defRPr>
            </a:pPr>
            <a:r>
              <a:t>1. Backend – Product Catalogue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9"/>
                </a:solidFill>
                <a:latin typeface="Aptos"/>
              </a:defRPr>
            </a:pPr>
            <a:r>
              <a:t>GET /api/products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800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Request reaches ProductController.</a:t>
            </a:r>
          </a:p>
          <a:p>
            <a:pPr>
              <a:spcAft>
                <a:spcPts val="10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ProductService handles the application logic.</a:t>
            </a:r>
          </a:p>
          <a:p>
            <a:pPr>
              <a:spcAft>
                <a:spcPts val="10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ProductRepository retrieves product records using Spring Data JPA.</a:t>
            </a:r>
          </a:p>
          <a:p>
            <a:pPr>
              <a:spcAft>
                <a:spcPts val="1000"/>
              </a:spcAft>
              <a:defRPr sz="1600">
                <a:solidFill>
                  <a:srgbClr val="23262A"/>
                </a:solidFill>
                <a:latin typeface="Aptos"/>
              </a:defRPr>
            </a:pPr>
            <a:r>
              <a:t>• The backend returns the product list as JSON.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251960"/>
            <a:ext cx="2971800" cy="457200"/>
          </a:xfrm>
          <a:prstGeom prst="roundRect">
            <a:avLst/>
          </a:prstGeom>
          <a:solidFill>
            <a:srgbClr val="F6F8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B37"/>
                </a:solidFill>
                <a:latin typeface="Aptos"/>
              </a:defRPr>
            </a:pPr>
            <a:r>
              <a:t>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846320"/>
            <a:ext cx="2971800" cy="457200"/>
          </a:xfrm>
          <a:prstGeom prst="roundRect">
            <a:avLst/>
          </a:prstGeom>
          <a:solidFill>
            <a:srgbClr val="F6F8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B37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440680"/>
            <a:ext cx="2971800" cy="457200"/>
          </a:xfrm>
          <a:prstGeom prst="roundRect">
            <a:avLst/>
          </a:prstGeom>
          <a:solidFill>
            <a:srgbClr val="F6F8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B37"/>
                </a:solidFill>
                <a:latin typeface="Aptos"/>
              </a:defRPr>
            </a:pPr>
            <a:r>
              <a:t>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234440"/>
            <a:ext cx="5806440" cy="4526280"/>
          </a:xfrm>
          <a:prstGeom prst="roundRect">
            <a:avLst/>
          </a:prstGeom>
          <a:solidFill>
            <a:srgbClr val="FBFB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1234440"/>
            <a:ext cx="580644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79592" y="1362456"/>
            <a:ext cx="164592" cy="164592"/>
          </a:xfrm>
          <a:prstGeom prst="ellipse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8192" y="1325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B37"/>
                </a:solidFill>
                <a:latin typeface="Aptos"/>
              </a:defRPr>
            </a:pPr>
            <a:r>
              <a:t>Postman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892808"/>
            <a:ext cx="731520" cy="384048"/>
          </a:xfrm>
          <a:prstGeom prst="roundRect">
            <a:avLst/>
          </a:prstGeom>
          <a:solidFill>
            <a:srgbClr val="E2F4EB"/>
          </a:solidFill>
          <a:ln>
            <a:solidFill>
              <a:srgbClr val="B1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8754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93992" y="1892808"/>
            <a:ext cx="4023359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62A"/>
                </a:solidFill>
                <a:latin typeface="Consolas"/>
              </a:defRPr>
            </a:pPr>
            <a:r>
              <a:t>http://localhost:8080/api/products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27080" y="1892808"/>
            <a:ext cx="411480" cy="384048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496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32B37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19" y="2496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38754"/>
                </a:solidFill>
                <a:latin typeface="Aptos"/>
              </a:defRPr>
            </a:pPr>
            <a:r>
              <a:t>200 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834640"/>
            <a:ext cx="5349240" cy="2697480"/>
          </a:xfrm>
          <a:prstGeom prst="roundRect">
            <a:avLst/>
          </a:prstGeom>
          <a:solidFill>
            <a:srgbClr val="23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017520"/>
            <a:ext cx="49834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[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{ "id": 1, "name": "Laptop Pro 14",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"price": 79999, "category": "Electronics",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"stockQuantity": 10, "active": true },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{ "id": 2, "name": "Wireless Headphones",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"price": 4999, "category": "Electronics",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"stockQuantity": 20, "active": true },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{ "id": 3, "name": "Mechanical Keyboard",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"price": 3499, "category": "Accessories",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"stockQuantity": 15, "active": true }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7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079"/>
                </a:solidFill>
                <a:latin typeface="Aptos"/>
              </a:defRPr>
            </a:pPr>
            <a:r>
              <a:t>Project Orbit • Product Catalogue Demo    |   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B37"/>
                </a:solidFill>
                <a:latin typeface="Aptos Display"/>
              </a:defRPr>
            </a:pPr>
            <a:r>
              <a:t>2. Postman – API Hit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9"/>
                </a:solidFill>
                <a:latin typeface="Aptos"/>
              </a:defRPr>
            </a:pPr>
            <a:r>
              <a:t>The endpoint is tested independently before the UI consumes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6675120" cy="4800600"/>
          </a:xfrm>
          <a:prstGeom prst="roundRect">
            <a:avLst/>
          </a:prstGeom>
          <a:solidFill>
            <a:srgbClr val="FBFBFB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675120" cy="4389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362456"/>
            <a:ext cx="164592" cy="164592"/>
          </a:xfrm>
          <a:prstGeom prst="ellipse">
            <a:avLst/>
          </a:prstGeom>
          <a:solidFill>
            <a:srgbClr val="FF6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3258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B37"/>
                </a:solidFill>
                <a:latin typeface="Aptos"/>
              </a:defRPr>
            </a:pPr>
            <a:r>
              <a:t>Postman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92808"/>
            <a:ext cx="731520" cy="384048"/>
          </a:xfrm>
          <a:prstGeom prst="roundRect">
            <a:avLst/>
          </a:prstGeom>
          <a:solidFill>
            <a:srgbClr val="E2F4EB"/>
          </a:solidFill>
          <a:ln>
            <a:solidFill>
              <a:srgbClr val="B1D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8754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4792" y="1892808"/>
            <a:ext cx="48920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3262A"/>
                </a:solidFill>
                <a:latin typeface="Consolas"/>
              </a:defRPr>
            </a:pPr>
            <a:r>
              <a:t>http://localhost:8080/api/products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892808"/>
            <a:ext cx="411480" cy="384048"/>
          </a:xfrm>
          <a:prstGeom prst="roundRect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32B37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96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38754"/>
                </a:solidFill>
                <a:latin typeface="Aptos"/>
              </a:defRPr>
            </a:pPr>
            <a:r>
              <a:t>200 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34640"/>
            <a:ext cx="6217920" cy="2971800"/>
          </a:xfrm>
          <a:prstGeom prst="roundRect">
            <a:avLst/>
          </a:prstGeom>
          <a:solidFill>
            <a:srgbClr val="232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17520"/>
            <a:ext cx="585215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[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{ "id": 1, "name": "Laptop Pro 14",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"price": 79999, "category": "Electronics",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"stockQuantity": 10, "active": true },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{ "id": 2, "name": "Wireless Headphones",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"price": 4999, "category": "Electronics",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"stockQuantity": 20, "active": true },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{ "id": 3, "name": "Mechanical Keyboard",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"price": 3499, "category": "Accessories",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    "stockQuantity": 15, "active": true }</a:t>
            </a:r>
          </a:p>
          <a:p>
            <a:pPr>
              <a:spcAft>
                <a:spcPts val="100"/>
              </a:spcAft>
              <a:defRPr sz="1050">
                <a:solidFill>
                  <a:srgbClr val="EBEFF2"/>
                </a:solidFill>
                <a:latin typeface="Consolas"/>
              </a:defRPr>
            </a:pPr>
            <a:r>
              <a:t>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417320"/>
            <a:ext cx="1234440" cy="384048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B37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19019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262A"/>
                </a:solidFill>
                <a:latin typeface="Aptos"/>
              </a:defRPr>
            </a:pPr>
            <a:r>
              <a:t>GET  /api/products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2606040"/>
            <a:ext cx="1645920" cy="384048"/>
          </a:xfrm>
          <a:prstGeom prst="roundRect">
            <a:avLst/>
          </a:prstGeom>
          <a:solidFill>
            <a:srgbClr val="F6F8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B37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090672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62A"/>
                </a:solidFill>
                <a:latin typeface="Aptos"/>
              </a:defRPr>
            </a:pPr>
            <a:r>
              <a:t>• HTTP 200 OK</a:t>
            </a:r>
          </a:p>
          <a:p>
            <a:pPr>
              <a:spcAft>
                <a:spcPts val="1000"/>
              </a:spcAft>
              <a:defRPr sz="1500">
                <a:solidFill>
                  <a:srgbClr val="23262A"/>
                </a:solidFill>
                <a:latin typeface="Aptos"/>
              </a:defRPr>
            </a:pPr>
            <a:r>
              <a:t>• Product list returned in JSON format</a:t>
            </a:r>
          </a:p>
          <a:p>
            <a:pPr>
              <a:spcAft>
                <a:spcPts val="1000"/>
              </a:spcAft>
              <a:defRPr sz="1500">
                <a:solidFill>
                  <a:srgbClr val="23262A"/>
                </a:solidFill>
                <a:latin typeface="Aptos"/>
              </a:defRPr>
            </a:pPr>
            <a:r>
              <a:t>• Product fields include id, name, price, category and stock quantity</a:t>
            </a:r>
          </a:p>
          <a:p>
            <a:pPr>
              <a:spcAft>
                <a:spcPts val="1000"/>
              </a:spcAft>
              <a:defRPr sz="1500">
                <a:solidFill>
                  <a:srgbClr val="23262A"/>
                </a:solidFill>
                <a:latin typeface="Aptos"/>
              </a:defRPr>
            </a:pPr>
            <a:r>
              <a:t>• Gateway forwards the request to the backend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7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079"/>
                </a:solidFill>
                <a:latin typeface="Aptos"/>
              </a:defRPr>
            </a:pPr>
            <a:r>
              <a:t>Project Orbit • Product Catalogue Demo    |   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B37"/>
                </a:solidFill>
                <a:latin typeface="Aptos Display"/>
              </a:defRPr>
            </a:pPr>
            <a:r>
              <a:t>3. Frontend – Product Catalogue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9"/>
                </a:solidFill>
                <a:latin typeface="Aptos"/>
              </a:defRPr>
            </a:pPr>
            <a:r>
              <a:t>React receives the JSON response and renders product cards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6692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B37"/>
                </a:solidFill>
                <a:latin typeface="Aptos"/>
              </a:defRPr>
            </a:pPr>
            <a:r>
              <a:t>Product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397763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7079"/>
                </a:solidFill>
                <a:latin typeface="Aptos"/>
              </a:defRPr>
            </a:pPr>
            <a:r>
              <a:t>Search 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2057400"/>
            <a:ext cx="1051560" cy="438912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B37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600200" cy="2057400"/>
          </a:xfrm>
          <a:prstGeom prst="roundRect">
            <a:avLst/>
          </a:prstGeom>
          <a:solidFill>
            <a:srgbClr val="F6F8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906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B37"/>
                </a:solidFill>
                <a:latin typeface="Aptos"/>
              </a:defRPr>
            </a:pPr>
            <a:r>
              <a:t>Laptop Pro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62A"/>
                </a:solidFill>
                <a:latin typeface="Aptos"/>
              </a:defRPr>
            </a:pPr>
            <a:r>
              <a:t>₹79,999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224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079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4599432"/>
            <a:ext cx="13716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B37"/>
                </a:solidFill>
                <a:latin typeface="Aptos"/>
              </a:defRPr>
            </a:pPr>
            <a:r>
              <a:t>View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880360"/>
            <a:ext cx="1600200" cy="2057400"/>
          </a:xfrm>
          <a:prstGeom prst="roundRect">
            <a:avLst/>
          </a:prstGeom>
          <a:solidFill>
            <a:srgbClr val="F6F8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30906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B37"/>
                </a:solidFill>
                <a:latin typeface="Aptos"/>
              </a:defRPr>
            </a:pPr>
            <a:r>
              <a:t>Wireless Headphones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62A"/>
                </a:solidFill>
                <a:latin typeface="Aptos"/>
              </a:defRPr>
            </a:pPr>
            <a:r>
              <a:t>₹4,999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4224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079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4599432"/>
            <a:ext cx="13716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B37"/>
                </a:solidFill>
                <a:latin typeface="Aptos"/>
              </a:defRPr>
            </a:pPr>
            <a:r>
              <a:t>View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880360"/>
            <a:ext cx="1600200" cy="2057400"/>
          </a:xfrm>
          <a:prstGeom prst="roundRect">
            <a:avLst/>
          </a:prstGeom>
          <a:solidFill>
            <a:srgbClr val="F6F8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0906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32B37"/>
                </a:solidFill>
                <a:latin typeface="Aptos"/>
              </a:defRPr>
            </a:pPr>
            <a:r>
              <a:t>Mechanical Keyboard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62A"/>
                </a:solidFill>
                <a:latin typeface="Aptos"/>
              </a:defRPr>
            </a:pPr>
            <a:r>
              <a:t>₹3,499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2245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079"/>
                </a:solidFill>
                <a:latin typeface="Aptos"/>
              </a:defRPr>
            </a:pPr>
            <a:r>
              <a:t>Accessories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0288" y="4599432"/>
            <a:ext cx="137160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B37"/>
                </a:solidFill>
                <a:latin typeface="Aptos"/>
              </a:defRPr>
            </a:pPr>
            <a:r>
              <a:t>View Details</a:t>
            </a:r>
          </a:p>
        </p:txBody>
      </p:sp>
      <p:sp>
        <p:nvSpPr>
          <p:cNvPr id="23" name="Oval 22"/>
          <p:cNvSpPr/>
          <p:nvPr/>
        </p:nvSpPr>
        <p:spPr>
          <a:xfrm>
            <a:off x="6903720" y="1417320"/>
            <a:ext cx="393192" cy="393192"/>
          </a:xfrm>
          <a:prstGeom prst="ellipse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38988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B37"/>
                </a:solidFill>
                <a:latin typeface="Aptos"/>
              </a:defRPr>
            </a:pPr>
            <a:r>
              <a:t>Products.jsx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68249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079"/>
                </a:solidFill>
                <a:latin typeface="Aptos"/>
              </a:defRPr>
            </a:pPr>
            <a:r>
              <a:t>Calls getProducts()</a:t>
            </a:r>
          </a:p>
        </p:txBody>
      </p:sp>
      <p:sp>
        <p:nvSpPr>
          <p:cNvPr id="26" name="Oval 25"/>
          <p:cNvSpPr/>
          <p:nvPr/>
        </p:nvSpPr>
        <p:spPr>
          <a:xfrm>
            <a:off x="6903720" y="2423160"/>
            <a:ext cx="393192" cy="393192"/>
          </a:xfrm>
          <a:prstGeom prst="ellipse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39572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B37"/>
                </a:solidFill>
                <a:latin typeface="Aptos"/>
              </a:defRPr>
            </a:pPr>
            <a:r>
              <a:t>productService.js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68833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079"/>
                </a:solidFill>
                <a:latin typeface="Aptos"/>
              </a:defRPr>
            </a:pPr>
            <a:r>
              <a:t>Axios sends GET request</a:t>
            </a:r>
          </a:p>
        </p:txBody>
      </p:sp>
      <p:sp>
        <p:nvSpPr>
          <p:cNvPr id="29" name="Oval 28"/>
          <p:cNvSpPr/>
          <p:nvPr/>
        </p:nvSpPr>
        <p:spPr>
          <a:xfrm>
            <a:off x="6903720" y="3429000"/>
            <a:ext cx="393192" cy="393192"/>
          </a:xfrm>
          <a:prstGeom prst="ellipse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40156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B37"/>
                </a:solidFill>
                <a:latin typeface="Aptos"/>
              </a:defRPr>
            </a:pPr>
            <a:r>
              <a:t>API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69417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079"/>
                </a:solidFill>
                <a:latin typeface="Aptos"/>
              </a:defRPr>
            </a:pPr>
            <a:r>
              <a:t>Routes /api/products to backend</a:t>
            </a:r>
          </a:p>
        </p:txBody>
      </p:sp>
      <p:sp>
        <p:nvSpPr>
          <p:cNvPr id="32" name="Oval 31"/>
          <p:cNvSpPr/>
          <p:nvPr/>
        </p:nvSpPr>
        <p:spPr>
          <a:xfrm>
            <a:off x="6903720" y="4434840"/>
            <a:ext cx="393192" cy="393192"/>
          </a:xfrm>
          <a:prstGeom prst="ellipse">
            <a:avLst/>
          </a:prstGeom>
          <a:solidFill>
            <a:srgbClr val="34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40740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B37"/>
                </a:solidFill>
                <a:latin typeface="Aptos"/>
              </a:defRPr>
            </a:pPr>
            <a:r>
              <a:t>ProductCard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70001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079"/>
                </a:solidFill>
                <a:latin typeface="Aptos"/>
              </a:defRPr>
            </a:pPr>
            <a:r>
              <a:t>Displays returned products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12280" y="5532120"/>
            <a:ext cx="4709160" cy="566928"/>
          </a:xfrm>
          <a:prstGeom prst="roundRect">
            <a:avLst/>
          </a:prstGeom>
          <a:solidFill>
            <a:srgbClr val="F6F8FA"/>
          </a:solidFill>
          <a:ln>
            <a:solidFill>
              <a:srgbClr val="D7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2B37"/>
                </a:solidFill>
                <a:latin typeface="Aptos"/>
              </a:defRPr>
            </a:pPr>
            <a:r>
              <a:t>Complete flow: React → API Gateway → Spring Boot → H2 → JSON → React UI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92240"/>
            <a:ext cx="10972800" cy="18288"/>
          </a:xfrm>
          <a:prstGeom prst="rect">
            <a:avLst/>
          </a:prstGeom>
          <a:solidFill>
            <a:srgbClr val="D7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079"/>
                </a:solidFill>
                <a:latin typeface="Aptos"/>
              </a:defRPr>
            </a:pPr>
            <a:r>
              <a:t>Project Orbit • Product Catalogue Demo    |   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